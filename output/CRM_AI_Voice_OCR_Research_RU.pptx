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Lora" pitchFamily="2" charset="0"/>
      <p:regular r:id="rId17"/>
      <p:bold r:id="rId18"/>
      <p:italic r:id="rId19"/>
      <p:boldItalic r:id="rId20"/>
    </p:embeddedFont>
    <p:embeddedFont>
      <p:font typeface="Lora Medium" pitchFamily="2" charset="0"/>
      <p:regular r:id="rId21"/>
      <p:italic r:id="rId22"/>
    </p:embeddedFont>
    <p:embeddedFont>
      <p:font typeface="Lora SemiBold" panose="020B0604020202020204" charset="0"/>
      <p:regular r:id="rId23"/>
      <p:bold r:id="rId24"/>
      <p:italic r:id="rId25"/>
      <p:boldItalic r:id="rId26"/>
    </p:embeddedFont>
    <p:embeddedFont>
      <p:font typeface="OpenAI Sans" panose="020B0604020202020204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  <p:embeddedFont>
      <p:font typeface="Roboto Medium" panose="02000000000000000000" pitchFamily="2" charset="0"/>
      <p:regular r:id="rId35"/>
      <p:italic r:id="rId36"/>
    </p:embeddedFont>
    <p:embeddedFont>
      <p:font typeface="Roboto SemiBold" panose="020B0604020202020204" charset="0"/>
      <p:regular r:id="rId37"/>
      <p:bold r:id="rId38"/>
      <p:italic r:id="rId39"/>
      <p:boldItalic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ru-RU" sz="1050" b="1">
                <a:solidFill>
                  <a:srgbClr val="17324D"/>
                </a:solidFill>
                <a:latin typeface="Roboto"/>
                <a:ea typeface="Roboto"/>
                <a:cs typeface="Roboto"/>
              </a:rPr>
              <a:t>CPU и RAM по варианту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vCPU</c:v>
          </c:tx>
          <c:spPr>
            <a:solidFill>
              <a:srgbClr val="2176D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50">
                    <a:latin typeface="Roboto"/>
                    <a:ea typeface="Roboto"/>
                    <a:cs typeface="Robot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Облако</c:v>
                </c:pt>
                <c:pt idx="1">
                  <c:v>Гибрид</c:v>
                </c:pt>
                <c:pt idx="2">
                  <c:v>Локально CPU</c:v>
                </c:pt>
                <c:pt idx="3">
                  <c:v>Локально GPU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9F2-4BD3-8E72-89D0ABA914DA}"/>
            </c:ext>
          </c:extLst>
        </c:ser>
        <c:ser>
          <c:idx val="1"/>
          <c:order val="1"/>
          <c:tx>
            <c:v>RAM, ГБ</c:v>
          </c:tx>
          <c:spPr>
            <a:solidFill>
              <a:srgbClr val="78B7F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50">
                    <a:latin typeface="Roboto"/>
                    <a:ea typeface="Roboto"/>
                    <a:cs typeface="Robot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Облако</c:v>
                </c:pt>
                <c:pt idx="1">
                  <c:v>Гибрид</c:v>
                </c:pt>
                <c:pt idx="2">
                  <c:v>Локально CPU</c:v>
                </c:pt>
                <c:pt idx="3">
                  <c:v>Локально GPU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8</c:v>
                </c:pt>
                <c:pt idx="1">
                  <c:v>12</c:v>
                </c:pt>
                <c:pt idx="2">
                  <c:v>16</c:v>
                </c:pt>
                <c:pt idx="3">
                  <c:v>16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9F2-4BD3-8E72-89D0ABA914D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8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lang="ru-RU">
                    <a:latin typeface="Roboto"/>
                    <a:ea typeface="Roboto"/>
                    <a:cs typeface="Roboto"/>
                  </a:rPr>
                  <a:t>Ядра / ГБ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66666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48650112"/>
        <c:crosses val="autoZero"/>
        <c:crossBetween val="between"/>
        <c:majorUnit val="2"/>
      </c:valAx>
    </c:plotArea>
    <c:legend>
      <c:legendPos val="b"/>
      <c:overlay val="0"/>
      <c:txPr>
        <a:bodyPr anchorCtr="1"/>
        <a:lstStyle/>
        <a:p>
          <a:pPr>
            <a:defRPr sz="750">
              <a:latin typeface="Roboto"/>
              <a:ea typeface="Roboto"/>
              <a:cs typeface="Roboto"/>
            </a:defRPr>
          </a:pPr>
          <a:endParaRPr lang="en-US"/>
        </a:p>
      </c:txPr>
    </c:legend>
    <c:plotVisOnly val="1"/>
    <c:dispBlanksAs val="zero"/>
    <c:showDLblsOverMax val="1"/>
  </c:chart>
  <c:spPr>
    <a:ln>
      <a:solidFill>
        <a:srgbClr val="FFFFFF"/>
      </a:solidFill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ru-RU" sz="1050" b="1">
                <a:solidFill>
                  <a:srgbClr val="17324D"/>
                </a:solidFill>
                <a:latin typeface="Roboto"/>
                <a:ea typeface="Roboto"/>
                <a:cs typeface="Roboto"/>
              </a:rPr>
              <a:t>Стоимость за 1000 единиц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USD</c:v>
          </c:tx>
          <c:spPr>
            <a:solidFill>
              <a:srgbClr val="2176D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50">
                    <a:latin typeface="Roboto"/>
                    <a:ea typeface="Roboto"/>
                    <a:cs typeface="Roboto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GPT Transcribe</c:v>
                </c:pt>
                <c:pt idx="1">
                  <c:v>Whisper API</c:v>
                </c:pt>
                <c:pt idx="2">
                  <c:v>Google Vision</c:v>
                </c:pt>
                <c:pt idx="3">
                  <c:v>Textract OCR</c:v>
                </c:pt>
              </c:strCache>
            </c:strRef>
          </c:cat>
          <c:val>
            <c:numRef>
              <c:f>'Chart Data'!$B$2:$B$5</c:f>
              <c:numCache>
                <c:formatCode>\$0.0</c:formatCode>
                <c:ptCount val="4"/>
                <c:pt idx="0">
                  <c:v>4.5</c:v>
                </c:pt>
                <c:pt idx="1">
                  <c:v>6</c:v>
                </c:pt>
                <c:pt idx="2">
                  <c:v>1.5</c:v>
                </c:pt>
                <c:pt idx="3">
                  <c:v>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DC8-4200-BF8F-D3528CA10A9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7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Roboto"/>
                    <a:ea typeface="Roboto"/>
                    <a:cs typeface="Roboto"/>
                  </a:rPr>
                  <a:t>USD</a:t>
                </a:r>
              </a:p>
            </c:rich>
          </c:tx>
          <c:overlay val="0"/>
        </c:title>
        <c:numFmt formatCode="\$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66666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48650112"/>
        <c:crosses val="autoZero"/>
        <c:crossBetween val="between"/>
        <c:majorUnit val="1"/>
      </c:valAx>
    </c:plotArea>
    <c:plotVisOnly val="1"/>
    <c:dispBlanksAs val="zero"/>
    <c:showDLblsOverMax val="1"/>
  </c:chart>
  <c:spPr>
    <a:ln>
      <a:solidFill>
        <a:srgbClr val="FFFFFF"/>
      </a:solidFill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Основано на текущей архитектуре проекта CRM и публичной документации поставщиков. Оценки ресурсов являются плановыми и требуют проверки на целевом сервере.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Проект: backend/src/Security/ResourceGuard.php; backend/src/Controller/AiInputController.php.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OpenAI GPT Transcribe: https://developers.openai.com/api/docs/models/gpt-transcribe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Проект: frontend/src/shared/utils/voice-recording.ts; backend/src/Domain/SpeechTranscriptionService.php; backend/src/Domain/BusinessCardOcrService.php.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Проект: backend/src/Security/ResourceGuard.php:71; backend/src/Domain/ProcessRunner.php; backend/src/Config/EnvironmentValidator.php:111.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OpenAI Whisper model sizes: https://github.com/openai/whisper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faster-whisper benchmark: https://github.com/SYSTRAN/faster-whisper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Tesseract performance guidance: https://tesseract-ocr.github.io/tessdoc/FAQ.html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OpenAI GPT Transcribe: https://developers.openai.com/api/docs/models/gpt-transcribe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OpenAI Whisper API: https://developers.openai.com/api/docs/models/whisper-1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faster-whisper: https://github.com/SYSTRAN/faster-whisper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OpenAI Whisper: https://github.com/openai/whisper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Расчёт: 3 минуты × $0,0045. Источник цены: https://developers.openai.com/api/docs/models/gpt-transcribe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OpenAI Whisper: https://github.com/openai/whisper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faster-whisper: https://github.com/SYSTRAN/faster-whisper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Tesseract: https://tesseract-ocr.github.io/tessdoc/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PaddleOCR Cyrillic: https://github.com/PaddlePaddle/PaddleOCR/blob/main/docs/version3.x/algorithm/PP-OCRv5/PP-OCRv5_multi_languages.md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Google Vision pricing: https://cloud.google.com/vision/pricing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Amazon Textract pricing: https://aws.amazon.com/textract/pricing/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Оценки являются плановыми целевыми конфигурациями, а не официальными минимумами. GPU-память моделей Whisper: https://github.com/openai/whisper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GPT Transcribe: https://developers.openai.com/api/docs/models/gpt-transcribe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Whisper API: https://developers.openai.com/api/docs/models/whisper-1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Google Vision: https://cloud.google.com/vision/pricing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Amazon Textract: https://aws.amazon.com/textract/pricing/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Рекомендуемая теоретическая схема. Реализация в код в рамках исследования не выполнялась.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Методика проверки: реальные 60-секундные записи, фотографии визиток разного качества и одновременные запросы. Метрики: p50/p95 latency, CPU, RAM, error rate, качество полей.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Итоговая рекомендация рассчитана на 20 одновременных пользователей и максимум 2–3 тяжёлых запроса.</a:t>
            </a:r>
          </a:p>
          <a:p>
            <a:r>
              <a:t>OpenAI data controls: https://platform.openai.com/docs/models/default-usage-policies-by-endpoint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129411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87051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4930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46664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736176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875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311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 sz="11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520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969" y="1444887"/>
            <a:ext cx="9448800" cy="1726468"/>
          </a:xfrm>
        </p:spPr>
        <p:txBody>
          <a:bodyPr anchor="t">
            <a:normAutofit/>
          </a:bodyPr>
          <a:lstStyle/>
          <a:p>
            <a:r>
              <a:rPr sz="405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Голосовой ввод и OCR</a:t>
            </a:r>
          </a:p>
          <a:p>
            <a:r>
              <a:rPr sz="405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для CRM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019" y="5077241"/>
            <a:ext cx="6304556" cy="1076208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sz="1425">
                <a:solidFill>
                  <a:schemeClr val="accent2">
                    <a:lumMod val="50000"/>
                  </a:schemeClr>
                </a:solidFill>
              </a:rPr>
              <a:t>Варианты библиотек и облачных API, расчёт ресурсов при 20 одновременных пользователях и пике 2–3 операций распознавания.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noGrp="1"/>
          </p:cNvSpPr>
          <p:nvPr/>
        </p:nvSpPr>
        <p:spPr>
          <a:xfrm>
            <a:off x="603018" y="4606175"/>
            <a:ext cx="6304556" cy="320279"/>
          </a:xfrm>
          <a:prstGeom prst="rect">
            <a:avLst/>
          </a:prstGeom>
          <a:noFill/>
        </p:spPr>
        <p:txBody>
          <a:bodyPr vert="horz" lIns="0" tIns="0" rIns="0" bIns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35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Сентябрь 2026</a:t>
            </a:r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noGrp="1"/>
          </p:cNvSpPr>
          <p:nvPr/>
        </p:nvSpPr>
        <p:spPr>
          <a:xfrm>
            <a:off x="603018" y="555606"/>
            <a:ext cx="3578411" cy="345178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35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CRM · техническое исследование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D5893AB4-602D-4953-9B09-CBC7DEB0DC61}"/>
              </a:ext>
            </a:extLst>
          </p:cNvPr>
          <p:cNvSpPr>
            <a:spLocks noGrp="1"/>
          </p:cNvSpPr>
          <p:nvPr/>
        </p:nvSpPr>
        <p:spPr>
          <a:xfrm>
            <a:off x="-183260" y="3934067"/>
            <a:ext cx="12558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0000000-1234-1234-1234-123412341234}" type="slidenum">
              <a:rPr/>
              <a:t>2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1046195"/>
            <a:ext cx="9448800" cy="985805"/>
          </a:xfrm>
        </p:spPr>
        <p:txBody>
          <a:bodyPr>
            <a:normAutofit/>
          </a:bodyPr>
          <a:lstStyle/>
          <a:p>
            <a:r>
              <a:rPr sz="2700"/>
              <a:t>Что охватывает исследование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275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Структура</a:t>
            </a:r>
          </a:p>
        </p:txBody>
      </p:sp>
      <p:graphicFrame>
        <p:nvGraphicFramePr>
          <p:cNvPr id="10" name="Table 6"/>
          <p:cNvGraphicFramePr/>
          <p:nvPr/>
        </p:nvGraphicFramePr>
        <p:xfrm>
          <a:off x="393700" y="2573020"/>
          <a:ext cx="11404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75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Roboto"/>
                          <a:ea typeface="Roboto"/>
                          <a:cs typeface="Roboto"/>
                        </a:rPr>
                        <a:t>Текущая архитектура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</a:rPr>
                        <a:t>Исходная точка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75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Roboto"/>
                          <a:ea typeface="Roboto"/>
                          <a:cs typeface="Roboto"/>
                        </a:rPr>
                        <a:t>Пиковая нагрузка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</a:rPr>
                        <a:t>20 пользователей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75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Roboto"/>
                          <a:ea typeface="Roboto"/>
                          <a:cs typeface="Roboto"/>
                        </a:rPr>
                        <a:t>Голосовой ввод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</a:rPr>
                        <a:t>Локально или API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75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Roboto"/>
                          <a:ea typeface="Roboto"/>
                          <a:cs typeface="Roboto"/>
                        </a:rPr>
                        <a:t>OCR визиток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</a:rPr>
                        <a:t>Текст и поля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75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Roboto"/>
                          <a:ea typeface="Roboto"/>
                          <a:cs typeface="Roboto"/>
                        </a:rPr>
                        <a:t>Ресурсные конфигурации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 b="0" i="0" u="none" cap="none" spc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</a:rPr>
                        <a:t>CPU, RAM, стоимость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 b="0" i="0" u="none" cap="none" spc="0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75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Roboto"/>
                          <a:ea typeface="Roboto"/>
                          <a:cs typeface="Roboto"/>
                        </a:rPr>
                        <a:t>Вывод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 b="0" i="0" u="none" cap="none" spc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</a:rPr>
                        <a:t>Рекомендуемый</a:t>
                      </a:r>
                      <a:r>
                        <a:rPr sz="1050" b="0" i="0" u="none" cap="none" spc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</a:rPr>
                        <a:t> </a:t>
                      </a:r>
                      <a:r>
                        <a:rPr sz="1050" b="0" i="0" u="none" cap="none" spc="0" dirty="0" err="1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"/>
                          <a:ea typeface="Roboto"/>
                          <a:cs typeface="Roboto"/>
                        </a:rPr>
                        <a:t>вариант</a:t>
                      </a:r>
                      <a:endParaRPr sz="1050" b="0" i="0" u="none" cap="none" spc="0" dirty="0">
                        <a:ln>
                          <a:noFill/>
                        </a:ln>
                        <a:solidFill>
                          <a:schemeClr val="accent1"/>
                        </a:solidFill>
                        <a:latin typeface="Roboto"/>
                        <a:ea typeface="Roboto"/>
                        <a:cs typeface="Roboto"/>
                      </a:endParaRP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13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8285F8A7-D116-4459-ACE9-1C59EFB24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99" y="2812968"/>
            <a:ext cx="5537200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75">
                <a:latin typeface="Helvetica Neue"/>
                <a:ea typeface="Helvetica Neue"/>
                <a:cs typeface="Helvetica Neue"/>
              </a:rPr>
              <a:t>Пиковую нагрузку создают 2–3 одновременных запроса голоса или OCR. Обычные операции CRM остаются короткими и не требуют AI-ускорителя.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D99E7C7-9C62-4C30-8490-FD8A34C48A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3</a:t>
            </a:fld>
            <a:endParaRPr/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noGrp="1"/>
          </p:cNvSpPr>
          <p:nvPr/>
        </p:nvSpPr>
        <p:spPr>
          <a:xfrm>
            <a:off x="393700" y="2111025"/>
            <a:ext cx="1844403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>
                <a:latin typeface="+mj-lt"/>
                <a:ea typeface="+mj-lt"/>
                <a:cs typeface="+mj-lt"/>
              </a:rPr>
              <a:t>Расчётный сценарий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6" name="Google Shape;534;p58">
            <a:extLst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noGrp="1"/>
          </p:cNvSpPr>
          <p:nvPr/>
        </p:nvSpPr>
        <p:spPr>
          <a:xfrm>
            <a:off x="6260109" y="2826992"/>
            <a:ext cx="5537200" cy="100108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Системная блокировка допускает только один Speech и один OCR запрос. Второй запрос того же типа получает HTTP 429.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noGrp="1"/>
          </p:cNvSpPr>
          <p:nvPr/>
        </p:nvSpPr>
        <p:spPr>
          <a:xfrm>
            <a:off x="6260109" y="2344035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+mj-lt"/>
                <a:ea typeface="+mj-lt"/>
                <a:cs typeface="+mj-lt"/>
              </a:rPr>
              <a:t>Ограничение текущей версии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1046195"/>
            <a:ext cx="11403610" cy="623819"/>
          </a:xfrm>
        </p:spPr>
        <p:txBody>
          <a:bodyPr>
            <a:normAutofit fontScale="90000"/>
          </a:bodyPr>
          <a:lstStyle/>
          <a:p>
            <a:r>
              <a:rPr sz="2550"/>
              <a:t>Облачный Speech API и локальный OCR соответствуют масштабу системы</a:t>
            </a:r>
          </a:p>
        </p:txBody>
      </p:sp>
      <p:sp>
        <p:nvSpPr>
          <p:cNvPr id="11" name="Subtitle 4">
            <a:extLst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275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Итог исследования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73D3AB9-1D28-449B-87F8-6ED4507C4E34}"/>
              </a:ext>
            </a:extLst>
          </p:cNvPr>
          <p:cNvSpPr>
            <a:spLocks noGrp="1"/>
          </p:cNvSpPr>
          <p:nvPr/>
        </p:nvSpPr>
        <p:spPr>
          <a:xfrm>
            <a:off x="6261100" y="4039769"/>
            <a:ext cx="5537200" cy="0"/>
          </a:xfrm>
          <a:prstGeom prst="line">
            <a:avLst/>
          </a:prstGeom>
          <a:ln w="12700"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Google Shape;534;p58">
            <a:extLst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noGrp="1"/>
          </p:cNvSpPr>
          <p:nvPr/>
        </p:nvSpPr>
        <p:spPr>
          <a:xfrm>
            <a:off x="6260109" y="4867987"/>
            <a:ext cx="5537200" cy="120023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GPT Transcribe для голоса. Tesseract остаётся базовым OCR, PaddleOCR или Vision LLM подключается для сложных карточек.</a:t>
            </a:r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noGrp="1"/>
          </p:cNvSpPr>
          <p:nvPr/>
        </p:nvSpPr>
        <p:spPr>
          <a:xfrm>
            <a:off x="6260109" y="4385030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+mj-lt"/>
                <a:ea typeface="+mj-lt"/>
                <a:cs typeface="+mj-lt"/>
              </a:rPr>
              <a:t>Рекомендуемое решение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noGrp="1"/>
          </p:cNvSpPr>
          <p:nvPr/>
        </p:nvSpPr>
        <p:spPr>
          <a:xfrm>
            <a:off x="2349499" y="2093356"/>
            <a:ext cx="2271780" cy="402442"/>
          </a:xfrm>
          <a:prstGeom prst="roundRect">
            <a:avLst>
              <a:gd name="adj" fmla="val 15738"/>
            </a:avLst>
          </a:prstGeom>
          <a:solidFill>
            <a:schemeClr val="accent1">
              <a:alpha val="2464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buNone/>
            </a:pPr>
            <a:r>
              <a:rPr sz="1200">
                <a:solidFill>
                  <a:schemeClr val="accent1"/>
                </a:solidFill>
              </a:rPr>
              <a:t>20 пользователей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noGrp="1"/>
          </p:cNvSpPr>
          <p:nvPr/>
        </p:nvSpPr>
        <p:spPr>
          <a:xfrm>
            <a:off x="393699" y="4756098"/>
            <a:ext cx="5537199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Главный вывод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noGrp="1"/>
          </p:cNvSpPr>
          <p:nvPr/>
        </p:nvSpPr>
        <p:spPr>
          <a:xfrm>
            <a:off x="386251" y="5134071"/>
            <a:ext cx="5537200" cy="86032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>
                <a:latin typeface="Helvetica Neue"/>
                <a:ea typeface="Helvetica Neue"/>
                <a:cs typeface="Helvetica Neue"/>
              </a:rPr>
              <a:t>Для облачного распознавания достаточно плановой конфигурации 4 vCPU и 8 ГБ RAM без GPU.</a:t>
            </a:r>
          </a:p>
        </p:txBody>
      </p:sp>
    </p:spTree>
    <p:extLst>
      <p:ext uri="{BB962C8B-B14F-4D97-AF65-F5344CB8AC3E}">
        <p14:creationId xmlns:p14="http://schemas.microsoft.com/office/powerpoint/2010/main" val="94862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4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 sz="2550">
                <a:solidFill>
                  <a:schemeClr val="accent1"/>
                </a:solidFill>
              </a:rPr>
              <a:t>Расчётная модель пиковой нагрузки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noGrp="1"/>
          </p:cNvSpPr>
          <p:nvPr/>
        </p:nvSpPr>
        <p:spPr>
          <a:xfrm>
            <a:off x="6264412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noGrp="1"/>
          </p:cNvSpPr>
          <p:nvPr/>
        </p:nvSpPr>
        <p:spPr>
          <a:xfrm>
            <a:off x="409043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05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CRUD-запросы короткие. Одновременный вход не означает постоянную загрузку 20 серверных workers.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noGrp="1"/>
          </p:cNvSpPr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>
                <a:latin typeface="Helvetica Neue"/>
                <a:ea typeface="Helvetica Neue"/>
                <a:cs typeface="Helvetica Neue"/>
              </a:rPr>
              <a:t>Аппаратные параметры production-сервера в проекте не зафиксированы. Значения ниже используются как ориентир для выбора конфигурации и требуют контрольного замера.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00">
                <a:latin typeface="+mj-lt"/>
                <a:ea typeface="+mj-lt"/>
                <a:cs typeface="+mj-lt"/>
              </a:rPr>
              <a:t>Область расчёта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275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20 активных сессий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05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Рассматривается худший случай: три голосовых запроса, три OCR или смешанный пик.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275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До 3 AI-операций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05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Лимит одного файла 25 МБ. Три максимальных файла создают до 75 МБ временных данных.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275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Голос: до 60 секунд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05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Три изображения создают до 24 МБ. Общий резерв временного диска: 200–300 МБ.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275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OCR: до 8 МБ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5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 sz="2400">
                <a:solidFill>
                  <a:schemeClr val="accent1"/>
                </a:solidFill>
              </a:rPr>
              <a:t>Текущая блокировка ограничивает пропускную способность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Helvetica Neue"/>
                <a:ea typeface="Helvetica Neue"/>
                <a:cs typeface="Helvetica Neue"/>
              </a:rPr>
              <a:t>Текущая схема использует MySQL GET_LOCK с нулевым ожиданием. Один запрос получает ресурс, остальные запросы того же типа немедленно завершаются ошибкой 429.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600">
              <a:latin typeface="Helvetica Neue"/>
              <a:ea typeface="Helvetica Neue"/>
              <a:cs typeface="Helvetica Neue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Helvetica Neue"/>
                <a:ea typeface="Helvetica Neue"/>
                <a:cs typeface="Helvetica Neue"/>
              </a:rPr>
              <a:t>Мощный CPU или GPU не устранит это ограничение. Для обслуживания реального пика понадобится очередь либо ограниченный пул workers.</a:t>
            </a:r>
            <a:endParaRPr sz="1600">
              <a:latin typeface="Helvetica Neue"/>
              <a:ea typeface="Helvetica Neue"/>
              <a:cs typeface="Helvetica Neue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600">
              <a:latin typeface="Helvetica Neue"/>
              <a:ea typeface="Helvetica Neue"/>
              <a:cs typeface="Helvetica Neue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Helvetica Neue"/>
                <a:ea typeface="Helvetica Neue"/>
                <a:cs typeface="Helvetica Neue"/>
              </a:rPr>
              <a:t>Отдельные блокировки для Speech и OCR позволяют одновременно выполнить максимум одну операцию каждого типа.</a:t>
            </a:r>
            <a:endParaRPr sz="16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>
                <a:latin typeface="+mj-lt"/>
                <a:ea typeface="+mj-lt"/>
                <a:cs typeface="+mj-lt"/>
              </a:rPr>
              <a:t>Синхронные Speech и OCR запросы удерживают PHP-FPM worker на всё время обработки.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05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1 активная транскрипция. До 900 секунд ожидания в текущей CPU-конфигурации.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275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Голос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05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1 активное распознавание. Тайм-аут 45 секунд.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275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OCR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05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Плановый ориентир: 8 workers, чтобы три AI-запроса не остановили обычную работу CRM.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275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PHP-FPM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6</a:t>
            </a:fld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noGrp="1"/>
          </p:cNvSpPr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noGrp="1"/>
          </p:cNvSpPr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noGrp="1"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RAM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00">
                <a:solidFill>
                  <a:prstClr val="black"/>
                </a:solidFill>
              </a:rPr>
              <a:t>Для локального Speech нужен запас 12–16 ГБ. Облачный вариант укладывается в 8 ГБ для всей CRM.</a:t>
            </a:r>
            <a:endParaRPr sz="160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noGrp="1"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Очередь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00">
                <a:solidFill>
                  <a:prstClr val="black"/>
                </a:solidFill>
              </a:rPr>
              <a:t>Практичный локальный режим: 2 Speech workers. Третий запрос ждёт, а не получает 429.</a:t>
            </a:r>
            <a:endParaRPr sz="1600"/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noGrp="1"/>
          </p:cNvSpPr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noGrp="1"/>
          </p:cNvSpPr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55665"/>
          </a:xfrm>
        </p:spPr>
        <p:txBody>
          <a:bodyPr>
            <a:normAutofit/>
          </a:bodyPr>
          <a:lstStyle/>
          <a:p>
            <a:r>
              <a:rPr sz="2550">
                <a:solidFill>
                  <a:schemeClr val="accent1"/>
                </a:solidFill>
              </a:rPr>
              <a:t>Что определяет требуемые ресурсы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noGrp="1"/>
          </p:cNvSpPr>
          <p:nvPr/>
        </p:nvSpPr>
        <p:spPr>
          <a:xfrm>
            <a:off x="4227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noGrp="1"/>
          </p:cNvSpPr>
          <p:nvPr/>
        </p:nvSpPr>
        <p:spPr>
          <a:xfrm>
            <a:off x="7356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CPU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00">
                <a:solidFill>
                  <a:prstClr val="black"/>
                </a:solidFill>
              </a:rPr>
              <a:t>Локальный Whisper требует 8–12 vCPU для 2–3 параллельных процессов. OCR укладывается в 3–4 ядра.</a:t>
            </a:r>
            <a:endParaRPr sz="1600"/>
          </a:p>
        </p:txBody>
      </p:sp>
      <p:sp>
        <p:nvSpPr>
          <p:cNvPr id="7" name="Google Shape;340;p61">
            <a:extLst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noGrp="1"/>
          </p:cNvSpPr>
          <p:nvPr/>
        </p:nvSpPr>
        <p:spPr>
          <a:xfrm>
            <a:off x="7414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1326615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Helvetica Neue"/>
                <a:ea typeface="Helvetica Neue"/>
                <a:cs typeface="Helvetica Neue"/>
              </a:rPr>
              <a:t>Для локального AI основную нагрузку создаёт одновременный запуск моделей. Облачный API переносит вычисления поставщику, но сохраняет занятые сетевые соединения и PHP workers. OCR заметно легче Speech и не требует GPU при трёх визитках.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00">
                <a:latin typeface="+mj-lt"/>
                <a:ea typeface="+mj-lt"/>
                <a:cs typeface="+mj-lt"/>
              </a:rPr>
              <a:t>Три фактора расчёта</a:t>
            </a:r>
            <a:endParaRPr sz="20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80263" lnSpcReduction="10000"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75"/>
              <a:t>ЛОКАЛЬНЫЙ КОНТУР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275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75"/>
              <a:t>OpenAI Whisper base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75"/>
              <a:t>Уже встроен. Данные не покидают сервер. Высокая CPU-нагрузка и повторная загрузка модели.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275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75"/>
              <a:t>faster-whisper INT8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75"/>
              <a:t>Предпочтительный локальный вариант. Быстрее исходной реализации и расходует меньше памяти.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275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75"/>
              <a:t>whisper.cpp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75"/>
              <a:t>Компактный runtime без Python. Требует новой интеграции и проверки качества корпоративной лексики.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275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75"/>
              <a:t>Плановый сервер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75"/>
              <a:t>8 vCPU, 16 ГБ RAM. Два workers и очередь для третьего запроса.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7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 sz="2550">
                <a:solidFill>
                  <a:schemeClr val="accent1"/>
                </a:solidFill>
              </a:rPr>
              <a:t>Локальное и облачное распознавание речи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80263"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/>
              <a:t>ОБЛАЧНЫЙ КОНТУР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275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/>
              <a:t>GPT Transcribe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/>
              <a:t>$0,0045 за аудиоминуту. Пик из трёх минут стоит $0,0135. Поддерживает подсказки терминов и языков.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275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/>
              <a:t>Whisper API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/>
              <a:t>$0,006 за минуту. Зрелый вариант, но дороже GPT Transcribe.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275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/>
              <a:t>Browser Web Speech API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/>
              <a:t>Минимальная серверная нагрузка, но непредсказуемая поддержка браузеров и недостаточный контроль над данными.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275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/>
              <a:t>Плановый сервер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/>
              <a:t>4 vCPU, 8 ГБ RAM без GPU.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lnSpcReduction="100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75">
                <a:latin typeface="+mj-lt"/>
                <a:ea typeface="+mj-lt"/>
                <a:cs typeface="+mj-lt"/>
              </a:rPr>
              <a:t>Оба подхода поддерживают русский, украинский и английский. Отличаются стоимостью инфраструктуры и режимом обработки данных.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8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pPr algn="ctr">
              <a:buNone/>
            </a:pPr>
            <a:r>
              <a:rPr sz="3150">
                <a:solidFill>
                  <a:schemeClr val="accent1"/>
                </a:solidFill>
              </a:rPr>
              <a:t>При пике 2–3 запросов облачная транскрипция снимает основную нагрузку с CRM</a:t>
            </a:r>
            <a:endParaRPr sz="4200">
              <a:solidFill>
                <a:schemeClr val="accent1"/>
              </a:solidFill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Helvetica Neue"/>
                <a:ea typeface="Helvetica Neue"/>
                <a:cs typeface="Helvetica Neue"/>
              </a:rPr>
              <a:t>Три одновременные записи по одной минуте стоят около $0,0135 в GPT Transcribe. Это существенно дешевле выделенного GPU при небольшом объёме использования. Если политика безопасности запрещает внешний API, faster-whisper INT8 остаётся оптимальным локальным резервом.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9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35900" cy="10402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 sz="2550">
                <a:solidFill>
                  <a:schemeClr val="accent1"/>
                </a:solidFill>
              </a:rPr>
              <a:t>Сравнение технологий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="4752742" y="1549337"/>
          <a:ext cx="6778000" cy="5309613"/>
        </p:xfrm>
        <a:graphic>
          <a:graphicData uri="http://schemas.openxmlformats.org/drawingml/2006/table">
            <a:tbl>
              <a:tblPr firstRow="1"/>
              <a:tblGrid>
                <a:gridCol w="169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Технология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Ресурсы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Преимущества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Недостатки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Whisper base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8–12 vCPU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12–16 ГБ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Локально, уже встроен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CPU, задержка, Python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faster-whisper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8 vCPU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12–16 ГБ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Быстрее, меньше RAM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Нужен сервис и очередь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whisper.cpp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6–8 vCPU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8–12 ГБ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Компактный runtime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Новая интеграция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GPT Transcribe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4 vCPU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8 ГБ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$0,0045/мин, без GPU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Внешняя обработка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Tesseract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4 vCPU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8 ГБ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Локально, бесплатно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Чувствителен к фото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PaddleOCR v5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4–8 vCPU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8–12 ГБ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Cyrillic, ориентация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Python/Paddle runtime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Google Vision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4 vCPU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8 ГБ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$1,50/1000 OCR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Внешний API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Amazon Textract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4 vCPU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8 ГБ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Структура документов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Избыточен для визиток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Vision LLM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4 vCPU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8 ГБ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Сразу структурирует поля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788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Риск выдуманных значений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noGrp="1"/>
          </p:cNvSpPr>
          <p:nvPr/>
        </p:nvSpPr>
        <p:spPr>
          <a:xfrm>
            <a:off x="393700" y="2774196"/>
            <a:ext cx="3606800" cy="3220203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2131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/>
              <a:t>Ключ к выбору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275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/>
              <a:t>Облачные API сокращают требования к серверу и лучше соответствуют небольшому пику.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275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/>
              <a:t>Локальные модели оправданы при строгом запрете передачи клиентских данных.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275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/>
              <a:t>Гибридный OCR снижает стоимость: базовый движок обрабатывает большинство карточек, более сильная модель подключается при низкой уверенности.</a:t>
            </a:r>
          </a:p>
        </p:txBody>
      </p:sp>
      <p:sp>
        <p:nvSpPr>
          <p:cNvPr id="8" name="Google Shape;534;p58">
            <a:extLst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noGrp="1"/>
          </p:cNvSpPr>
          <p:nvPr/>
        </p:nvSpPr>
        <p:spPr>
          <a:xfrm>
            <a:off x="393700" y="1564835"/>
            <a:ext cx="3606800" cy="1178365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75">
                <a:latin typeface="+mj-lt"/>
                <a:ea typeface="+mj-lt"/>
                <a:cs typeface="+mj-lt"/>
              </a:rPr>
              <a:t>Плановые ресурсы указаны для всей системы или выделенного локального AI-контура при пике 2–3 запросов.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10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 sz="2400">
                <a:solidFill>
                  <a:schemeClr val="accent1"/>
                </a:solidFill>
              </a:rPr>
              <a:t>Плановые конфигурации сервера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noGrp="1"/>
          </p:cNvSpPr>
          <p:nvPr/>
        </p:nvSpPr>
        <p:spPr>
          <a:xfrm>
            <a:off x="6264412" y="2374900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noGrp="1"/>
          </p:cNvSpPr>
          <p:nvPr/>
        </p:nvSpPr>
        <p:spPr>
          <a:xfrm>
            <a:off x="6558438" y="3088295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05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8 vCPU, 16 ГБ RAM. Два Speech workers и очередь.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noGrp="1"/>
          </p:cNvSpPr>
          <p:nvPr/>
        </p:nvSpPr>
        <p:spPr>
          <a:xfrm>
            <a:off x="6555127" y="2631212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275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Локальный CPU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05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6–8 vCPU, 16 ГБ RAM и NVIDIA 8 ГБ VRAM дают запас для трёх запросов.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275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Локальный GPU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noGrp="1"/>
          </p:cNvSpPr>
          <p:nvPr/>
        </p:nvSpPr>
        <p:spPr>
          <a:xfrm>
            <a:off x="6264412" y="391117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noGrp="1"/>
          </p:cNvSpPr>
          <p:nvPr/>
        </p:nvSpPr>
        <p:spPr>
          <a:xfrm>
            <a:off x="6558438" y="1104512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05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4 vCPU, 8 ГБ RAM, без GPU. До трёх параллельных API-вызовов.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noGrp="1"/>
          </p:cNvSpPr>
          <p:nvPr/>
        </p:nvSpPr>
        <p:spPr>
          <a:xfrm>
            <a:off x="6555127" y="647429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275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Облачный контур</a:t>
            </a:r>
          </a:p>
        </p:txBody>
      </p:sp>
      <p:graphicFrame>
        <p:nvGraphicFramePr>
          <p:cNvPr id="547" name="Chart"/>
          <p:cNvGraphicFramePr/>
          <p:nvPr>
            <p:extLst>
              <p:ext uri="{D42A27DB-BD31-4B8C-83A1-F6EECF244321}">
                <p14:modId xmlns:p14="http://schemas.microsoft.com/office/powerpoint/2010/main" val="506482477"/>
              </p:ext>
            </p:extLst>
          </p:nvPr>
        </p:nvGraphicFramePr>
        <p:xfrm>
          <a:off x="0" y="803791"/>
          <a:ext cx="6096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45975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11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 sz="2400">
                <a:solidFill>
                  <a:schemeClr val="accent1"/>
                </a:solidFill>
              </a:rPr>
              <a:t>Стоимость облачного пика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noGrp="1"/>
          </p:cNvSpPr>
          <p:nvPr/>
        </p:nvSpPr>
        <p:spPr>
          <a:xfrm>
            <a:off x="6271986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noGrp="1"/>
          </p:cNvSpPr>
          <p:nvPr/>
        </p:nvSpPr>
        <p:spPr>
          <a:xfrm>
            <a:off x="6494348" y="2356820"/>
            <a:ext cx="2133315" cy="9037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2550" u="none" cap="none" spc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$0,0135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noGrp="1"/>
          </p:cNvSpPr>
          <p:nvPr/>
        </p:nvSpPr>
        <p:spPr>
          <a:xfrm>
            <a:off x="6560966" y="3529296"/>
            <a:ext cx="2066698" cy="6159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125"/>
              <a:t>Три минуты</a:t>
            </a:r>
            <a:endParaRPr sz="16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125"/>
              <a:t>GPT Transcribe</a:t>
            </a:r>
            <a:endParaRPr sz="160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noGrp="1"/>
          </p:cNvSpPr>
          <p:nvPr/>
        </p:nvSpPr>
        <p:spPr>
          <a:xfrm>
            <a:off x="9224191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noGrp="1"/>
          </p:cNvSpPr>
          <p:nvPr/>
        </p:nvSpPr>
        <p:spPr>
          <a:xfrm>
            <a:off x="9446553" y="2356820"/>
            <a:ext cx="2133315" cy="9037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2550" u="none" cap="none" spc="0">
                <a:ln>
                  <a:noFill/>
                </a:ln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$0,0045</a:t>
            </a:r>
            <a:endParaRPr sz="62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noGrp="1"/>
          </p:cNvSpPr>
          <p:nvPr/>
        </p:nvSpPr>
        <p:spPr>
          <a:xfrm>
            <a:off x="9513171" y="3529296"/>
            <a:ext cx="2066698" cy="6159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125"/>
              <a:t>Три OCR после</a:t>
            </a:r>
            <a:endParaRPr sz="1600"/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125"/>
              <a:t>free tier</a:t>
            </a:r>
            <a:endParaRPr sz="160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noGrp="1"/>
          </p:cNvSpPr>
          <p:nvPr/>
        </p:nvSpPr>
        <p:spPr>
          <a:xfrm>
            <a:off x="6258427" y="4971337"/>
            <a:ext cx="5539873" cy="9906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050"/>
              <a:t>Нормализация: Speech указан за 1000 аудиоминут, OCR за 1000 изображений или страниц. Валютные расходы не включают передачу данных и налоги.</a:t>
            </a:r>
          </a:p>
        </p:txBody>
      </p:sp>
      <p:graphicFrame>
        <p:nvGraphicFramePr>
          <p:cNvPr id="545" name="Chart"/>
          <p:cNvGraphicFramePr/>
          <p:nvPr>
            <p:extLst>
              <p:ext uri="{D42A27DB-BD31-4B8C-83A1-F6EECF244321}">
                <p14:modId xmlns:p14="http://schemas.microsoft.com/office/powerpoint/2010/main" val="1688210374"/>
              </p:ext>
            </p:extLst>
          </p:nvPr>
        </p:nvGraphicFramePr>
        <p:xfrm>
          <a:off x="238668" y="789432"/>
          <a:ext cx="6096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9383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822700"/>
            <a:ext cx="2595934" cy="1168400"/>
          </a:xfrm>
        </p:spPr>
        <p:txBody>
          <a:bodyPr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75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Браузер и API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275"/>
              <a:t>MediaRecorder до 60 секунд или изображение визитки до 8 МБ.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8574A810-7A8E-054F-9F6B-09E9C694ECF9}" type="slidenum">
              <a:rPr/>
              <a:t>12</a:t>
            </a:fld>
            <a:endParaRPr sz="110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46838" cy="1034893"/>
          </a:xfrm>
        </p:spPr>
        <p:txBody>
          <a:bodyPr>
            <a:normAutofit/>
          </a:bodyPr>
          <a:lstStyle/>
          <a:p>
            <a:r>
              <a:rPr sz="2550">
                <a:solidFill>
                  <a:schemeClr val="accent1"/>
                </a:solidFill>
              </a:rPr>
              <a:t>Рекомендуемый путь запроса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17119" y="3822700"/>
            <a:ext cx="2595934" cy="1168400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275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Пул workers</a:t>
            </a: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275" b="0" i="0" u="none" cap="none" spc="0">
                <a:ln>
                  <a:noFill/>
                </a:ln>
                <a:solidFill>
                  <a:prstClr val="black"/>
                </a:solidFill>
              </a:rPr>
              <a:t>До трёх облачных вызовов либо два локальных workers с очередью.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3822700"/>
            <a:ext cx="2595934" cy="1168400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275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Черновик CRM</a:t>
            </a: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275" b="0" i="0" u="none" cap="none" spc="0">
                <a:ln>
                  <a:noFill/>
                </a:ln>
                <a:solidFill>
                  <a:prstClr val="black"/>
                </a:solidFill>
              </a:rPr>
              <a:t>Текст или JSON, confidence и обязательное подтверждение пользователем.</a:t>
            </a:r>
          </a:p>
        </p:txBody>
      </p:sp>
      <p:cxnSp>
        <p:nvCxnSpPr>
          <p:cNvPr id="24" name="Google Shape;2259;p159"/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ln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noGrp="1"/>
          </p:cNvSpPr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noGrp="1"/>
          </p:cNvSpPr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noGrp="1"/>
          </p:cNvSpPr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noGrp="1"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125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1. Приём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noGrp="1"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125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2. Обработка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noGrp="1"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125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3. Возврат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/>
              <a:t>13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11404600" cy="69739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 sz="2400">
                <a:solidFill>
                  <a:schemeClr val="accent1"/>
                </a:solidFill>
              </a:rPr>
              <a:t>Что проверить перед внедрением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537" name="Google Shape;953;p80"/>
          <p:cNvGraphicFramePr/>
          <p:nvPr/>
        </p:nvGraphicFramePr>
        <p:xfrm>
          <a:off x="393699" y="1379875"/>
          <a:ext cx="11404600" cy="4614525"/>
        </p:xfrm>
        <a:graphic>
          <a:graphicData uri="http://schemas.openxmlformats.org/drawingml/2006/table">
            <a:tbl>
              <a:tblPr/>
              <a:tblGrid>
                <a:gridCol w="228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4525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Набор данных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Бенчмарк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Приватность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Пилот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Roboto"/>
                          <a:ea typeface="Roboto"/>
                          <a:cs typeface="Roboto"/>
                        </a:rPr>
                        <a:t>Решение</a:t>
                      </a:r>
                      <a:endParaRPr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137150" marR="91425" marT="0" marB="91425">
                    <a:lnL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Google Shape;955;p80">
            <a:extLst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noGrp="1"/>
          </p:cNvSpPr>
          <p:nvPr/>
        </p:nvSpPr>
        <p:spPr>
          <a:xfrm>
            <a:off x="4721718" y="4107740"/>
            <a:ext cx="4562665" cy="513300"/>
          </a:xfrm>
          <a:prstGeom prst="roundRect">
            <a:avLst>
              <a:gd name="adj" fmla="val 1147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10300" tIns="121875" rIns="121875" bIns="121875" anchor="ctr">
            <a:normAutofit/>
          </a:bodyPr>
          <a:lstStyle/>
          <a:p>
            <a:r>
              <a:rPr sz="975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2–3 параллельных запроса</a:t>
            </a:r>
          </a:p>
        </p:txBody>
      </p:sp>
      <p:sp>
        <p:nvSpPr>
          <p:cNvPr id="6" name="Google Shape;957;p80">
            <a:extLst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noGrp="1"/>
          </p:cNvSpPr>
          <p:nvPr/>
        </p:nvSpPr>
        <p:spPr>
          <a:xfrm>
            <a:off x="584093" y="5478390"/>
            <a:ext cx="11026708" cy="513300"/>
          </a:xfrm>
          <a:prstGeom prst="roundRect">
            <a:avLst>
              <a:gd name="adj" fmla="val 11479"/>
            </a:avLst>
          </a:prstGeom>
          <a:solidFill>
            <a:schemeClr val="bg2"/>
          </a:solidFill>
          <a:ln w="12700">
            <a:solidFill>
              <a:schemeClr val="accent1"/>
            </a:solidFill>
          </a:ln>
        </p:spPr>
        <p:txBody>
          <a:bodyPr spcFirstLastPara="1" wrap="square" lIns="210300" tIns="121875" rIns="121875" bIns="121875" anchor="ctr">
            <a:normAutofit/>
          </a:bodyPr>
          <a:lstStyle/>
          <a:p>
            <a:r>
              <a:rPr sz="975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Выбор production-конфигурации</a:t>
            </a:r>
            <a:endParaRPr sz="1500">
              <a:solidFill>
                <a:schemeClr val="accent1"/>
              </a:solidFill>
              <a:latin typeface="Roboto Medium"/>
              <a:ea typeface="Roboto Medium"/>
              <a:cs typeface="Roboto Medium"/>
            </a:endParaRPr>
          </a:p>
        </p:txBody>
      </p:sp>
      <p:sp>
        <p:nvSpPr>
          <p:cNvPr id="7" name="Google Shape;960;p80">
            <a:extLst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noGrp="1"/>
          </p:cNvSpPr>
          <p:nvPr/>
        </p:nvSpPr>
        <p:spPr>
          <a:xfrm>
            <a:off x="7522794" y="4754965"/>
            <a:ext cx="4088008" cy="513300"/>
          </a:xfrm>
          <a:prstGeom prst="roundRect">
            <a:avLst>
              <a:gd name="adj" fmla="val 1147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10300" tIns="121875" rIns="121875" bIns="121875" anchor="ctr">
            <a:normAutofit/>
          </a:bodyPr>
          <a:lstStyle/>
          <a:p>
            <a:r>
              <a:rPr sz="975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Сравнение качества</a:t>
            </a:r>
          </a:p>
        </p:txBody>
      </p:sp>
      <p:sp>
        <p:nvSpPr>
          <p:cNvPr id="8" name="Google Shape;963;p80">
            <a:extLst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noGrp="1"/>
          </p:cNvSpPr>
          <p:nvPr/>
        </p:nvSpPr>
        <p:spPr>
          <a:xfrm>
            <a:off x="2819968" y="3403140"/>
            <a:ext cx="8790833" cy="513300"/>
          </a:xfrm>
          <a:prstGeom prst="roundRect">
            <a:avLst>
              <a:gd name="adj" fmla="val 1147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10300" tIns="121875" rIns="121875" bIns="121875" anchor="ctr">
            <a:normAutofit/>
          </a:bodyPr>
          <a:lstStyle/>
          <a:p>
            <a:r>
              <a:rPr sz="975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DPA и хранение</a:t>
            </a:r>
          </a:p>
        </p:txBody>
      </p:sp>
      <p:sp>
        <p:nvSpPr>
          <p:cNvPr id="9" name="Google Shape;966;p80">
            <a:extLst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noGrp="1"/>
          </p:cNvSpPr>
          <p:nvPr/>
        </p:nvSpPr>
        <p:spPr>
          <a:xfrm>
            <a:off x="2819968" y="2698515"/>
            <a:ext cx="6408538" cy="513300"/>
          </a:xfrm>
          <a:prstGeom prst="roundRect">
            <a:avLst>
              <a:gd name="adj" fmla="val 1147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10300" tIns="121875" rIns="121875" bIns="121875" anchor="ctr">
            <a:normAutofit/>
          </a:bodyPr>
          <a:lstStyle/>
          <a:p>
            <a:r>
              <a:rPr sz="975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Задержка, RAM, CPU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noGrp="1"/>
          </p:cNvSpPr>
          <p:nvPr/>
        </p:nvSpPr>
        <p:spPr>
          <a:xfrm>
            <a:off x="507893" y="1975090"/>
            <a:ext cx="4185180" cy="513300"/>
          </a:xfrm>
          <a:prstGeom prst="roundRect">
            <a:avLst>
              <a:gd name="adj" fmla="val 1147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210300" tIns="121875" rIns="121875" bIns="121875" anchor="ctr">
            <a:normAutofit/>
          </a:bodyPr>
          <a:lstStyle/>
          <a:p>
            <a:r>
              <a:rPr sz="975">
                <a:solidFill>
                  <a:schemeClr val="bg2"/>
                </a:solidFill>
                <a:latin typeface="Roboto Medium"/>
                <a:ea typeface="Roboto Medium"/>
                <a:cs typeface="Roboto Medium"/>
              </a:rPr>
              <a:t>RU / UK / EN</a:t>
            </a:r>
            <a:endParaRPr sz="1500">
              <a:solidFill>
                <a:schemeClr val="bg2"/>
              </a:solidFill>
              <a:latin typeface="Roboto Medium"/>
              <a:ea typeface="Roboto Medium"/>
              <a:cs typeface="Robot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011EE4-C416-3EA2-180D-62404CE47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937510"/>
            <a:ext cx="9448800" cy="2491490"/>
          </a:xfrm>
        </p:spPr>
        <p:txBody>
          <a:bodyPr>
            <a:normAutofit/>
          </a:bodyPr>
          <a:lstStyle/>
          <a:p>
            <a:r>
              <a:rPr sz="3450">
                <a:solidFill>
                  <a:schemeClr val="accent1"/>
                </a:solidFill>
              </a:rPr>
              <a:t>Рекомендуемая конфигурация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19B400D-E218-8301-7E00-C5A55230D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201" y="4532466"/>
            <a:ext cx="6458364" cy="1388024"/>
          </a:xfrm>
        </p:spPr>
        <p:txBody>
          <a:bodyPr>
            <a:normAutofit fontScale="94904" lnSpcReduction="10000"/>
          </a:bodyPr>
          <a:lstStyle/>
          <a:p>
            <a:pPr>
              <a:lnSpc>
                <a:spcPct val="120000"/>
              </a:lnSpc>
              <a:buNone/>
            </a:pPr>
            <a:r>
              <a:rPr sz="1575">
                <a:solidFill>
                  <a:schemeClr val="accent2">
                    <a:lumMod val="50000"/>
                  </a:schemeClr>
                </a:solidFill>
              </a:rPr>
              <a:t>4 vCPU · 8 ГБ RAM · без GPU</a:t>
            </a:r>
          </a:p>
          <a:p>
            <a:pPr>
              <a:lnSpc>
                <a:spcPct val="120000"/>
              </a:lnSpc>
              <a:buNone/>
            </a:pPr>
            <a:r>
              <a:rPr sz="1575">
                <a:solidFill>
                  <a:schemeClr val="accent2">
                    <a:lumMod val="50000"/>
                  </a:schemeClr>
                </a:solidFill>
              </a:rPr>
              <a:t>GPT Transcribe для голоса</a:t>
            </a:r>
          </a:p>
          <a:p>
            <a:pPr>
              <a:lnSpc>
                <a:spcPct val="120000"/>
              </a:lnSpc>
              <a:buNone/>
            </a:pPr>
            <a:r>
              <a:rPr sz="1575">
                <a:solidFill>
                  <a:schemeClr val="accent2">
                    <a:lumMod val="50000"/>
                  </a:schemeClr>
                </a:solidFill>
              </a:rPr>
              <a:t>Tesseract с PaddleOCR или Vision fallback для OCR</a:t>
            </a:r>
          </a:p>
          <a:p>
            <a:pPr>
              <a:lnSpc>
                <a:spcPct val="120000"/>
              </a:lnSpc>
              <a:buNone/>
            </a:pPr>
            <a:r>
              <a:rPr sz="1575">
                <a:solidFill>
                  <a:schemeClr val="accent2">
                    <a:lumMod val="50000"/>
                  </a:schemeClr>
                </a:solidFill>
              </a:rPr>
              <a:t>Очередь или лимит 2–3 workers вместо эксклюзивной блокировки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DA75144-DB7E-4834-AC3D-88917609C118}"/>
              </a:ext>
            </a:extLst>
          </p:cNvPr>
          <p:cNvSpPr>
            <a:spLocks noGrp="1"/>
          </p:cNvSpPr>
          <p:nvPr/>
        </p:nvSpPr>
        <p:spPr>
          <a:xfrm>
            <a:off x="-183260" y="3934067"/>
            <a:ext cx="12558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5545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1621</Words>
  <Application>Microsoft Office PowerPoint</Application>
  <DocSecurity>0</DocSecurity>
  <PresentationFormat>Widescreen</PresentationFormat>
  <Paragraphs>243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Lora SemiBold</vt:lpstr>
      <vt:lpstr>Roboto</vt:lpstr>
      <vt:lpstr>Roboto SemiBold</vt:lpstr>
      <vt:lpstr>OpenAI Sans</vt:lpstr>
      <vt:lpstr>Helvetica Neue Medium</vt:lpstr>
      <vt:lpstr>Roboto Medium</vt:lpstr>
      <vt:lpstr>Lora Medium</vt:lpstr>
      <vt:lpstr>Helvetica Neue</vt:lpstr>
      <vt:lpstr>Lora</vt:lpstr>
      <vt:lpstr>Arial</vt:lpstr>
      <vt:lpstr>Default Codex Theme</vt:lpstr>
      <vt:lpstr>Голосовой ввод и OCR для CRM</vt:lpstr>
      <vt:lpstr>Что охватывает исследование</vt:lpstr>
      <vt:lpstr>Облачный Speech API и локальный OCR соответствуют масштабу системы</vt:lpstr>
      <vt:lpstr>Расчётная модель пиковой нагрузки</vt:lpstr>
      <vt:lpstr>Текущая блокировка ограничивает пропускную способность</vt:lpstr>
      <vt:lpstr>Что определяет требуемые ресурсы</vt:lpstr>
      <vt:lpstr>Локальное и облачное распознавание речи</vt:lpstr>
      <vt:lpstr>При пике 2–3 запросов облачная транскрипция снимает основную нагрузку с CRM</vt:lpstr>
      <vt:lpstr>Сравнение технологий</vt:lpstr>
      <vt:lpstr>Плановые конфигурации сервера</vt:lpstr>
      <vt:lpstr>Стоимость облачного пика</vt:lpstr>
      <vt:lpstr>Рекомендуемый путь запроса</vt:lpstr>
      <vt:lpstr>Что проверить перед внедрением</vt:lpstr>
      <vt:lpstr>Рекомендуемая конфигурация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Marat Zhyvotovskyi</cp:lastModifiedBy>
  <cp:revision>1</cp:revision>
  <dcterms:created xsi:type="dcterms:W3CDTF">2026-09-10T06:19:38Z</dcterms:created>
  <dcterms:modified xsi:type="dcterms:W3CDTF">2026-09-10T10:53:23Z</dcterms:modified>
</cp:coreProperties>
</file>